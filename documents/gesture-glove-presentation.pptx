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imo" charset="1" panose="020B0604020202020204"/>
      <p:regular r:id="rId13"/>
    </p:embeddedFont>
    <p:embeddedFont>
      <p:font typeface="Cooper BT Light" charset="1" panose="0208050304030B020404"/>
      <p:regular r:id="rId14"/>
    </p:embeddedFont>
    <p:embeddedFont>
      <p:font typeface="Arimo Bold" charset="1" panose="020B0704020202020204"/>
      <p:regular r:id="rId15"/>
    </p:embeddedFont>
    <p:embeddedFont>
      <p:font typeface="Rosario Bold" charset="1" panose="0200050306000002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48878" y="9922856"/>
            <a:ext cx="13716000" cy="99048"/>
            <a:chOff x="0" y="0"/>
            <a:chExt cx="13004800" cy="93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3853"/>
            </a:xfrm>
            <a:custGeom>
              <a:avLst/>
              <a:gdLst/>
              <a:ahLst/>
              <a:cxnLst/>
              <a:rect r="r" b="b" t="t" l="l"/>
              <a:pathLst>
                <a:path h="93853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3853"/>
                  </a:lnTo>
                  <a:lnTo>
                    <a:pt x="0" y="93853"/>
                  </a:lnTo>
                  <a:close/>
                </a:path>
              </a:pathLst>
            </a:custGeom>
            <a:solidFill>
              <a:srgbClr val="20A15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339244" y="9645180"/>
            <a:ext cx="1987684" cy="501696"/>
            <a:chOff x="0" y="0"/>
            <a:chExt cx="1884619" cy="475682"/>
          </a:xfrm>
        </p:grpSpPr>
        <p:sp>
          <p:nvSpPr>
            <p:cNvPr name="Freeform 5" id="5" descr="C:\Users\Donggeon Lee\Desktop\IoT\pnu.png"/>
            <p:cNvSpPr/>
            <p:nvPr/>
          </p:nvSpPr>
          <p:spPr>
            <a:xfrm flipH="false" flipV="false" rot="0">
              <a:off x="0" y="0"/>
              <a:ext cx="1884680" cy="475742"/>
            </a:xfrm>
            <a:custGeom>
              <a:avLst/>
              <a:gdLst/>
              <a:ahLst/>
              <a:cxnLst/>
              <a:rect r="r" b="b" t="t" l="l"/>
              <a:pathLst>
                <a:path h="475742" w="1884680">
                  <a:moveTo>
                    <a:pt x="0" y="0"/>
                  </a:moveTo>
                  <a:lnTo>
                    <a:pt x="1884680" y="0"/>
                  </a:lnTo>
                  <a:lnTo>
                    <a:pt x="1884680" y="475742"/>
                  </a:lnTo>
                  <a:lnTo>
                    <a:pt x="0" y="475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472" b="1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0" y="0"/>
            <a:ext cx="13716000" cy="68578"/>
            <a:chOff x="0" y="0"/>
            <a:chExt cx="13004800" cy="650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04800" cy="65024"/>
            </a:xfrm>
            <a:custGeom>
              <a:avLst/>
              <a:gdLst/>
              <a:ahLst/>
              <a:cxnLst/>
              <a:rect r="r" b="b" t="t" l="l"/>
              <a:pathLst>
                <a:path h="65024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65024"/>
                  </a:lnTo>
                  <a:lnTo>
                    <a:pt x="0" y="65024"/>
                  </a:lnTo>
                  <a:close/>
                </a:path>
              </a:pathLst>
            </a:custGeom>
            <a:solidFill>
              <a:srgbClr val="004EA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547112" y="4023210"/>
            <a:ext cx="3132444" cy="4266360"/>
            <a:chOff x="0" y="0"/>
            <a:chExt cx="2970021" cy="40451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0022" cy="4045204"/>
            </a:xfrm>
            <a:custGeom>
              <a:avLst/>
              <a:gdLst/>
              <a:ahLst/>
              <a:cxnLst/>
              <a:rect r="r" b="b" t="t" l="l"/>
              <a:pathLst>
                <a:path h="4045204" w="2970022">
                  <a:moveTo>
                    <a:pt x="0" y="0"/>
                  </a:moveTo>
                  <a:lnTo>
                    <a:pt x="2970022" y="0"/>
                  </a:lnTo>
                  <a:lnTo>
                    <a:pt x="2970022" y="4045204"/>
                  </a:lnTo>
                  <a:lnTo>
                    <a:pt x="0" y="4045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287226" y="8964884"/>
            <a:ext cx="13719957" cy="1255181"/>
            <a:chOff x="0" y="0"/>
            <a:chExt cx="13008552" cy="11900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009499" cy="1190117"/>
            </a:xfrm>
            <a:custGeom>
              <a:avLst/>
              <a:gdLst/>
              <a:ahLst/>
              <a:cxnLst/>
              <a:rect r="r" b="b" t="t" l="l"/>
              <a:pathLst>
                <a:path h="1190117" w="13009499">
                  <a:moveTo>
                    <a:pt x="13005054" y="0"/>
                  </a:moveTo>
                  <a:lnTo>
                    <a:pt x="10570845" y="0"/>
                  </a:lnTo>
                  <a:cubicBezTo>
                    <a:pt x="10173208" y="762"/>
                    <a:pt x="10083926" y="410718"/>
                    <a:pt x="9645523" y="448437"/>
                  </a:cubicBezTo>
                  <a:lnTo>
                    <a:pt x="0" y="448437"/>
                  </a:lnTo>
                  <a:lnTo>
                    <a:pt x="0" y="1190117"/>
                  </a:lnTo>
                  <a:lnTo>
                    <a:pt x="13008356" y="1190117"/>
                  </a:lnTo>
                  <a:cubicBezTo>
                    <a:pt x="13009499" y="783209"/>
                    <a:pt x="13003912" y="406908"/>
                    <a:pt x="1300505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287227" y="9044320"/>
            <a:ext cx="13714773" cy="1175743"/>
            <a:chOff x="0" y="0"/>
            <a:chExt cx="13003637" cy="11147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003657" cy="1114806"/>
            </a:xfrm>
            <a:custGeom>
              <a:avLst/>
              <a:gdLst/>
              <a:ahLst/>
              <a:cxnLst/>
              <a:rect r="r" b="b" t="t" l="l"/>
              <a:pathLst>
                <a:path h="1114806" w="13003657">
                  <a:moveTo>
                    <a:pt x="13003657" y="0"/>
                  </a:moveTo>
                  <a:lnTo>
                    <a:pt x="10580370" y="0"/>
                  </a:lnTo>
                  <a:cubicBezTo>
                    <a:pt x="10192258" y="635"/>
                    <a:pt x="10086339" y="425831"/>
                    <a:pt x="9654159" y="435483"/>
                  </a:cubicBezTo>
                  <a:lnTo>
                    <a:pt x="0" y="435483"/>
                  </a:lnTo>
                  <a:lnTo>
                    <a:pt x="0" y="1114806"/>
                  </a:lnTo>
                  <a:lnTo>
                    <a:pt x="13003657" y="1114806"/>
                  </a:lnTo>
                  <a:lnTo>
                    <a:pt x="1300365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BEBEBE">
                    <a:alpha val="100000"/>
                  </a:srgbClr>
                </a:gs>
                <a:gs pos="100000">
                  <a:srgbClr val="ECECEC">
                    <a:alpha val="100000"/>
                  </a:srgbClr>
                </a:gs>
              </a:gsLst>
              <a:lin ang="10800000"/>
            </a:gra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264579" y="9335440"/>
            <a:ext cx="2468249" cy="622993"/>
            <a:chOff x="0" y="0"/>
            <a:chExt cx="2340265" cy="590690"/>
          </a:xfrm>
        </p:grpSpPr>
        <p:sp>
          <p:nvSpPr>
            <p:cNvPr name="Freeform 15" id="15" descr="C:\Users\Donggeon Lee\Desktop\IoT\pnu.png"/>
            <p:cNvSpPr/>
            <p:nvPr/>
          </p:nvSpPr>
          <p:spPr>
            <a:xfrm flipH="false" flipV="false" rot="0">
              <a:off x="0" y="0"/>
              <a:ext cx="2340229" cy="590677"/>
            </a:xfrm>
            <a:custGeom>
              <a:avLst/>
              <a:gdLst/>
              <a:ahLst/>
              <a:cxnLst/>
              <a:rect r="r" b="b" t="t" l="l"/>
              <a:pathLst>
                <a:path h="590677" w="2340229">
                  <a:moveTo>
                    <a:pt x="0" y="0"/>
                  </a:moveTo>
                  <a:lnTo>
                    <a:pt x="2340229" y="0"/>
                  </a:lnTo>
                  <a:lnTo>
                    <a:pt x="2340229" y="590677"/>
                  </a:lnTo>
                  <a:lnTo>
                    <a:pt x="0" y="590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477" b="-2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643642" y="7606919"/>
            <a:ext cx="3333231" cy="76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부산대학교 정보의생명공학대학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1F497D"/>
                </a:solidFill>
                <a:latin typeface="Arimo"/>
                <a:ea typeface="Arimo"/>
                <a:cs typeface="Arimo"/>
                <a:sym typeface="Arimo"/>
              </a:rPr>
              <a:t>정보컴퓨터공학부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272938" y="-14287"/>
            <a:ext cx="13744575" cy="1095375"/>
            <a:chOff x="0" y="0"/>
            <a:chExt cx="13031893" cy="10385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3589" y="13589"/>
              <a:ext cx="13004801" cy="1011428"/>
            </a:xfrm>
            <a:custGeom>
              <a:avLst/>
              <a:gdLst/>
              <a:ahLst/>
              <a:cxnLst/>
              <a:rect r="r" b="b" t="t" l="l"/>
              <a:pathLst>
                <a:path h="1011428" w="13004801">
                  <a:moveTo>
                    <a:pt x="0" y="0"/>
                  </a:moveTo>
                  <a:lnTo>
                    <a:pt x="13004801" y="0"/>
                  </a:lnTo>
                  <a:lnTo>
                    <a:pt x="13004801" y="1011428"/>
                  </a:lnTo>
                  <a:lnTo>
                    <a:pt x="0" y="1011428"/>
                  </a:lnTo>
                  <a:close/>
                </a:path>
              </a:pathLst>
            </a:custGeom>
            <a:solidFill>
              <a:srgbClr val="004EA2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031978" cy="1038606"/>
            </a:xfrm>
            <a:custGeom>
              <a:avLst/>
              <a:gdLst/>
              <a:ahLst/>
              <a:cxnLst/>
              <a:rect r="r" b="b" t="t" l="l"/>
              <a:pathLst>
                <a:path h="1038606" w="13031978">
                  <a:moveTo>
                    <a:pt x="13589" y="0"/>
                  </a:moveTo>
                  <a:lnTo>
                    <a:pt x="13018390" y="0"/>
                  </a:lnTo>
                  <a:cubicBezTo>
                    <a:pt x="13025882" y="0"/>
                    <a:pt x="13031978" y="6096"/>
                    <a:pt x="13031978" y="13589"/>
                  </a:cubicBezTo>
                  <a:lnTo>
                    <a:pt x="13031978" y="1025017"/>
                  </a:lnTo>
                  <a:cubicBezTo>
                    <a:pt x="13031978" y="1032510"/>
                    <a:pt x="13025882" y="1038606"/>
                    <a:pt x="13018390" y="1038606"/>
                  </a:cubicBezTo>
                  <a:lnTo>
                    <a:pt x="13589" y="1038606"/>
                  </a:lnTo>
                  <a:cubicBezTo>
                    <a:pt x="6096" y="1038606"/>
                    <a:pt x="0" y="1032510"/>
                    <a:pt x="0" y="1025017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025017"/>
                  </a:lnTo>
                  <a:lnTo>
                    <a:pt x="13589" y="1025017"/>
                  </a:lnTo>
                  <a:lnTo>
                    <a:pt x="13589" y="1011428"/>
                  </a:lnTo>
                  <a:lnTo>
                    <a:pt x="13018390" y="1011428"/>
                  </a:lnTo>
                  <a:lnTo>
                    <a:pt x="13018390" y="1025017"/>
                  </a:lnTo>
                  <a:lnTo>
                    <a:pt x="13004800" y="1025017"/>
                  </a:lnTo>
                  <a:lnTo>
                    <a:pt x="13004800" y="13589"/>
                  </a:lnTo>
                  <a:lnTo>
                    <a:pt x="13018390" y="13589"/>
                  </a:lnTo>
                  <a:lnTo>
                    <a:pt x="13018390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385D8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271712" y="904551"/>
            <a:ext cx="13744575" cy="603585"/>
            <a:chOff x="0" y="0"/>
            <a:chExt cx="13031893" cy="5722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3589" y="13589"/>
              <a:ext cx="13004801" cy="545211"/>
            </a:xfrm>
            <a:custGeom>
              <a:avLst/>
              <a:gdLst/>
              <a:ahLst/>
              <a:cxnLst/>
              <a:rect r="r" b="b" t="t" l="l"/>
              <a:pathLst>
                <a:path h="545211" w="13004801">
                  <a:moveTo>
                    <a:pt x="0" y="0"/>
                  </a:moveTo>
                  <a:lnTo>
                    <a:pt x="13004801" y="0"/>
                  </a:lnTo>
                  <a:lnTo>
                    <a:pt x="13004801" y="545211"/>
                  </a:lnTo>
                  <a:lnTo>
                    <a:pt x="0" y="545211"/>
                  </a:lnTo>
                  <a:close/>
                </a:path>
              </a:pathLst>
            </a:custGeom>
            <a:solidFill>
              <a:srgbClr val="20A15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031978" cy="572389"/>
            </a:xfrm>
            <a:custGeom>
              <a:avLst/>
              <a:gdLst/>
              <a:ahLst/>
              <a:cxnLst/>
              <a:rect r="r" b="b" t="t" l="l"/>
              <a:pathLst>
                <a:path h="572389" w="13031978">
                  <a:moveTo>
                    <a:pt x="13589" y="0"/>
                  </a:moveTo>
                  <a:lnTo>
                    <a:pt x="13018390" y="0"/>
                  </a:lnTo>
                  <a:cubicBezTo>
                    <a:pt x="13025882" y="0"/>
                    <a:pt x="13031978" y="6096"/>
                    <a:pt x="13031978" y="13589"/>
                  </a:cubicBezTo>
                  <a:lnTo>
                    <a:pt x="13031978" y="558800"/>
                  </a:lnTo>
                  <a:cubicBezTo>
                    <a:pt x="13031978" y="566293"/>
                    <a:pt x="13025882" y="572389"/>
                    <a:pt x="13018390" y="572389"/>
                  </a:cubicBezTo>
                  <a:lnTo>
                    <a:pt x="13589" y="572389"/>
                  </a:lnTo>
                  <a:cubicBezTo>
                    <a:pt x="6096" y="572262"/>
                    <a:pt x="0" y="566166"/>
                    <a:pt x="0" y="558800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558800"/>
                  </a:lnTo>
                  <a:lnTo>
                    <a:pt x="13589" y="558800"/>
                  </a:lnTo>
                  <a:lnTo>
                    <a:pt x="13589" y="545211"/>
                  </a:lnTo>
                  <a:lnTo>
                    <a:pt x="13018390" y="545211"/>
                  </a:lnTo>
                  <a:lnTo>
                    <a:pt x="13018390" y="558800"/>
                  </a:lnTo>
                  <a:lnTo>
                    <a:pt x="13004800" y="558800"/>
                  </a:lnTo>
                  <a:lnTo>
                    <a:pt x="13004800" y="13589"/>
                  </a:lnTo>
                  <a:lnTo>
                    <a:pt x="13018390" y="13589"/>
                  </a:lnTo>
                  <a:lnTo>
                    <a:pt x="13018390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20A15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448794" y="200733"/>
            <a:ext cx="1620979" cy="1145865"/>
            <a:chOff x="0" y="0"/>
            <a:chExt cx="1536929" cy="1086450"/>
          </a:xfrm>
        </p:grpSpPr>
        <p:sp>
          <p:nvSpPr>
            <p:cNvPr name="Freeform 24" id="24" descr="기본형"/>
            <p:cNvSpPr/>
            <p:nvPr/>
          </p:nvSpPr>
          <p:spPr>
            <a:xfrm flipH="false" flipV="false" rot="0">
              <a:off x="0" y="0"/>
              <a:ext cx="1536954" cy="1086485"/>
            </a:xfrm>
            <a:custGeom>
              <a:avLst/>
              <a:gdLst/>
              <a:ahLst/>
              <a:cxnLst/>
              <a:rect r="r" b="b" t="t" l="l"/>
              <a:pathLst>
                <a:path h="1086485" w="1536954">
                  <a:moveTo>
                    <a:pt x="0" y="0"/>
                  </a:moveTo>
                  <a:lnTo>
                    <a:pt x="1536954" y="0"/>
                  </a:lnTo>
                  <a:lnTo>
                    <a:pt x="1536954" y="1086485"/>
                  </a:lnTo>
                  <a:lnTo>
                    <a:pt x="0" y="108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3462" t="-55662" r="-64713" b="-5393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664805" y="7561676"/>
            <a:ext cx="920792" cy="920791"/>
            <a:chOff x="0" y="0"/>
            <a:chExt cx="873047" cy="873047"/>
          </a:xfrm>
        </p:grpSpPr>
        <p:sp>
          <p:nvSpPr>
            <p:cNvPr name="Freeform 26" id="26" descr="정장형 심볼01"/>
            <p:cNvSpPr/>
            <p:nvPr/>
          </p:nvSpPr>
          <p:spPr>
            <a:xfrm flipH="false" flipV="false" rot="0">
              <a:off x="0" y="0"/>
              <a:ext cx="872998" cy="872998"/>
            </a:xfrm>
            <a:custGeom>
              <a:avLst/>
              <a:gdLst/>
              <a:ahLst/>
              <a:cxnLst/>
              <a:rect r="r" b="b" t="t" l="l"/>
              <a:pathLst>
                <a:path h="872998" w="872998">
                  <a:moveTo>
                    <a:pt x="0" y="0"/>
                  </a:moveTo>
                  <a:lnTo>
                    <a:pt x="872998" y="0"/>
                  </a:lnTo>
                  <a:lnTo>
                    <a:pt x="872998" y="872998"/>
                  </a:lnTo>
                  <a:lnTo>
                    <a:pt x="0" y="8729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2547324" y="9746792"/>
            <a:ext cx="2786877" cy="342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spc="-136">
                <a:solidFill>
                  <a:srgbClr val="20A15E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Adventure Design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216960" y="3687764"/>
            <a:ext cx="9357508" cy="124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4"/>
              </a:lnSpc>
              <a:spcBef>
                <a:spcPct val="0"/>
              </a:spcBef>
            </a:pPr>
            <a:r>
              <a:rPr lang="en-US" b="true" sz="404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Gesture-Controlled Smart Glove </a:t>
            </a:r>
          </a:p>
          <a:p>
            <a:pPr algn="ctr">
              <a:lnSpc>
                <a:spcPts val="4854"/>
              </a:lnSpc>
              <a:spcBef>
                <a:spcPct val="0"/>
              </a:spcBef>
            </a:pPr>
            <a:r>
              <a:rPr lang="en-US" b="true" sz="404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(VR / Robotics Interface)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87952"/>
            <a:ext cx="13716000" cy="99048"/>
            <a:chOff x="0" y="0"/>
            <a:chExt cx="13004800" cy="93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3853"/>
            </a:xfrm>
            <a:custGeom>
              <a:avLst/>
              <a:gdLst/>
              <a:ahLst/>
              <a:cxnLst/>
              <a:rect r="r" b="b" t="t" l="l"/>
              <a:pathLst>
                <a:path h="93853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3853"/>
                  </a:lnTo>
                  <a:lnTo>
                    <a:pt x="0" y="93853"/>
                  </a:lnTo>
                  <a:close/>
                </a:path>
              </a:pathLst>
            </a:custGeom>
            <a:solidFill>
              <a:srgbClr val="20A15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339244" y="9645180"/>
            <a:ext cx="1987684" cy="501696"/>
            <a:chOff x="0" y="0"/>
            <a:chExt cx="1884619" cy="475682"/>
          </a:xfrm>
        </p:grpSpPr>
        <p:sp>
          <p:nvSpPr>
            <p:cNvPr name="Freeform 5" id="5" descr="C:\Users\Donggeon Lee\Desktop\IoT\pnu.png"/>
            <p:cNvSpPr/>
            <p:nvPr/>
          </p:nvSpPr>
          <p:spPr>
            <a:xfrm flipH="false" flipV="false" rot="0">
              <a:off x="0" y="0"/>
              <a:ext cx="1884680" cy="475742"/>
            </a:xfrm>
            <a:custGeom>
              <a:avLst/>
              <a:gdLst/>
              <a:ahLst/>
              <a:cxnLst/>
              <a:rect r="r" b="b" t="t" l="l"/>
              <a:pathLst>
                <a:path h="475742" w="1884680">
                  <a:moveTo>
                    <a:pt x="0" y="0"/>
                  </a:moveTo>
                  <a:lnTo>
                    <a:pt x="1884680" y="0"/>
                  </a:lnTo>
                  <a:lnTo>
                    <a:pt x="1884680" y="475742"/>
                  </a:lnTo>
                  <a:lnTo>
                    <a:pt x="0" y="475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472" b="1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0" y="0"/>
            <a:ext cx="13716000" cy="68578"/>
            <a:chOff x="0" y="0"/>
            <a:chExt cx="13004800" cy="650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04800" cy="65024"/>
            </a:xfrm>
            <a:custGeom>
              <a:avLst/>
              <a:gdLst/>
              <a:ahLst/>
              <a:cxnLst/>
              <a:rect r="r" b="b" t="t" l="l"/>
              <a:pathLst>
                <a:path h="65024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65024"/>
                  </a:lnTo>
                  <a:lnTo>
                    <a:pt x="0" y="65024"/>
                  </a:lnTo>
                  <a:close/>
                </a:path>
              </a:pathLst>
            </a:custGeom>
            <a:solidFill>
              <a:srgbClr val="004EA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555268" y="270162"/>
            <a:ext cx="13180032" cy="921327"/>
            <a:chOff x="0" y="0"/>
            <a:chExt cx="12496623" cy="8735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96623" cy="873555"/>
            </a:xfrm>
            <a:custGeom>
              <a:avLst/>
              <a:gdLst/>
              <a:ahLst/>
              <a:cxnLst/>
              <a:rect r="r" b="b" t="t" l="l"/>
              <a:pathLst>
                <a:path h="873555" w="12496623">
                  <a:moveTo>
                    <a:pt x="0" y="0"/>
                  </a:moveTo>
                  <a:lnTo>
                    <a:pt x="12496623" y="0"/>
                  </a:lnTo>
                  <a:lnTo>
                    <a:pt x="12496623" y="873555"/>
                  </a:lnTo>
                  <a:lnTo>
                    <a:pt x="0" y="8735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2496623" cy="873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b="true" sz="4199" spc="9">
                  <a:solidFill>
                    <a:srgbClr val="20A15E"/>
                  </a:solidFill>
                  <a:latin typeface="Rosario Bold"/>
                  <a:ea typeface="Rosario Bold"/>
                  <a:cs typeface="Rosario Bold"/>
                  <a:sym typeface="Rosario Bold"/>
                </a:rPr>
                <a:t>Background and necessity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516708" y="9896028"/>
            <a:ext cx="485292" cy="291924"/>
            <a:chOff x="0" y="0"/>
            <a:chExt cx="460129" cy="2767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21" cy="276733"/>
            </a:xfrm>
            <a:custGeom>
              <a:avLst/>
              <a:gdLst/>
              <a:ahLst/>
              <a:cxnLst/>
              <a:rect r="r" b="b" t="t" l="l"/>
              <a:pathLst>
                <a:path h="276733" w="460121">
                  <a:moveTo>
                    <a:pt x="0" y="0"/>
                  </a:moveTo>
                  <a:lnTo>
                    <a:pt x="460121" y="0"/>
                  </a:lnTo>
                  <a:lnTo>
                    <a:pt x="460121" y="276733"/>
                  </a:lnTo>
                  <a:lnTo>
                    <a:pt x="0" y="276733"/>
                  </a:lnTo>
                  <a:close/>
                </a:path>
              </a:pathLst>
            </a:custGeom>
            <a:solidFill>
              <a:srgbClr val="20A15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460129" cy="2958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‹#›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117751" y="1392407"/>
            <a:ext cx="6591059" cy="4391293"/>
          </a:xfrm>
          <a:custGeom>
            <a:avLst/>
            <a:gdLst/>
            <a:ahLst/>
            <a:cxnLst/>
            <a:rect r="r" b="b" t="t" l="l"/>
            <a:pathLst>
              <a:path h="4391293" w="6591059">
                <a:moveTo>
                  <a:pt x="0" y="0"/>
                </a:moveTo>
                <a:lnTo>
                  <a:pt x="6591059" y="0"/>
                </a:lnTo>
                <a:lnTo>
                  <a:pt x="6591059" y="4391293"/>
                </a:lnTo>
                <a:lnTo>
                  <a:pt x="0" y="43912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586078" y="6182950"/>
            <a:ext cx="10670290" cy="307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2529" indent="-276264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With the rise of VR, AR, and robotic systems, there is growing demand for natural and intuitive control beyond keyboards and joysticks.</a:t>
            </a:r>
          </a:p>
          <a:p>
            <a:pPr algn="just" marL="552529" indent="-276264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Traditional controllers limit hand movement and lack realism.</a:t>
            </a:r>
          </a:p>
          <a:p>
            <a:pPr algn="just" marL="552529" indent="-276264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 gesture-controlled glove allows users to interact with virtual or robotic systems using natural hand gestures.</a:t>
            </a:r>
          </a:p>
          <a:p>
            <a:pPr algn="just" marL="552529" indent="-276264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This can improve accessibility, immersion, and remote control precision.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87952"/>
            <a:ext cx="13716000" cy="99048"/>
            <a:chOff x="0" y="0"/>
            <a:chExt cx="13004800" cy="93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3853"/>
            </a:xfrm>
            <a:custGeom>
              <a:avLst/>
              <a:gdLst/>
              <a:ahLst/>
              <a:cxnLst/>
              <a:rect r="r" b="b" t="t" l="l"/>
              <a:pathLst>
                <a:path h="93853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3853"/>
                  </a:lnTo>
                  <a:lnTo>
                    <a:pt x="0" y="93853"/>
                  </a:lnTo>
                  <a:close/>
                </a:path>
              </a:pathLst>
            </a:custGeom>
            <a:solidFill>
              <a:srgbClr val="20A15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339244" y="9645180"/>
            <a:ext cx="1987684" cy="501696"/>
            <a:chOff x="0" y="0"/>
            <a:chExt cx="1884619" cy="475682"/>
          </a:xfrm>
        </p:grpSpPr>
        <p:sp>
          <p:nvSpPr>
            <p:cNvPr name="Freeform 5" id="5" descr="C:\Users\Donggeon Lee\Desktop\IoT\pnu.png"/>
            <p:cNvSpPr/>
            <p:nvPr/>
          </p:nvSpPr>
          <p:spPr>
            <a:xfrm flipH="false" flipV="false" rot="0">
              <a:off x="0" y="0"/>
              <a:ext cx="1884680" cy="475742"/>
            </a:xfrm>
            <a:custGeom>
              <a:avLst/>
              <a:gdLst/>
              <a:ahLst/>
              <a:cxnLst/>
              <a:rect r="r" b="b" t="t" l="l"/>
              <a:pathLst>
                <a:path h="475742" w="1884680">
                  <a:moveTo>
                    <a:pt x="0" y="0"/>
                  </a:moveTo>
                  <a:lnTo>
                    <a:pt x="1884680" y="0"/>
                  </a:lnTo>
                  <a:lnTo>
                    <a:pt x="1884680" y="475742"/>
                  </a:lnTo>
                  <a:lnTo>
                    <a:pt x="0" y="475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472" b="1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0" y="0"/>
            <a:ext cx="13716000" cy="68578"/>
            <a:chOff x="0" y="0"/>
            <a:chExt cx="13004800" cy="650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04800" cy="65024"/>
            </a:xfrm>
            <a:custGeom>
              <a:avLst/>
              <a:gdLst/>
              <a:ahLst/>
              <a:cxnLst/>
              <a:rect r="r" b="b" t="t" l="l"/>
              <a:pathLst>
                <a:path h="65024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65024"/>
                  </a:lnTo>
                  <a:lnTo>
                    <a:pt x="0" y="65024"/>
                  </a:lnTo>
                  <a:close/>
                </a:path>
              </a:pathLst>
            </a:custGeom>
            <a:solidFill>
              <a:srgbClr val="004EA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555268" y="270162"/>
            <a:ext cx="13684239" cy="921327"/>
            <a:chOff x="0" y="0"/>
            <a:chExt cx="12974686" cy="8735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74686" cy="873555"/>
            </a:xfrm>
            <a:custGeom>
              <a:avLst/>
              <a:gdLst/>
              <a:ahLst/>
              <a:cxnLst/>
              <a:rect r="r" b="b" t="t" l="l"/>
              <a:pathLst>
                <a:path h="873555" w="12974686">
                  <a:moveTo>
                    <a:pt x="0" y="0"/>
                  </a:moveTo>
                  <a:lnTo>
                    <a:pt x="12974686" y="0"/>
                  </a:lnTo>
                  <a:lnTo>
                    <a:pt x="12974686" y="873555"/>
                  </a:lnTo>
                  <a:lnTo>
                    <a:pt x="0" y="8735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2974686" cy="873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b="true" sz="4199" spc="9">
                  <a:solidFill>
                    <a:srgbClr val="20A15E"/>
                  </a:solidFill>
                  <a:latin typeface="Rosario Bold"/>
                  <a:ea typeface="Rosario Bold"/>
                  <a:cs typeface="Rosario Bold"/>
                  <a:sym typeface="Rosario Bold"/>
                </a:rPr>
                <a:t>Current status and limitations of related system(services)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516708" y="9896028"/>
            <a:ext cx="485292" cy="291924"/>
            <a:chOff x="0" y="0"/>
            <a:chExt cx="460129" cy="2767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21" cy="276733"/>
            </a:xfrm>
            <a:custGeom>
              <a:avLst/>
              <a:gdLst/>
              <a:ahLst/>
              <a:cxnLst/>
              <a:rect r="r" b="b" t="t" l="l"/>
              <a:pathLst>
                <a:path h="276733" w="460121">
                  <a:moveTo>
                    <a:pt x="0" y="0"/>
                  </a:moveTo>
                  <a:lnTo>
                    <a:pt x="460121" y="0"/>
                  </a:lnTo>
                  <a:lnTo>
                    <a:pt x="460121" y="276733"/>
                  </a:lnTo>
                  <a:lnTo>
                    <a:pt x="0" y="276733"/>
                  </a:lnTo>
                  <a:close/>
                </a:path>
              </a:pathLst>
            </a:custGeom>
            <a:solidFill>
              <a:srgbClr val="20A15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460129" cy="2958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‹#›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106438" y="1551451"/>
            <a:ext cx="5730441" cy="4487893"/>
          </a:xfrm>
          <a:custGeom>
            <a:avLst/>
            <a:gdLst/>
            <a:ahLst/>
            <a:cxnLst/>
            <a:rect r="r" b="b" t="t" l="l"/>
            <a:pathLst>
              <a:path h="4487893" w="5730441">
                <a:moveTo>
                  <a:pt x="0" y="0"/>
                </a:moveTo>
                <a:lnTo>
                  <a:pt x="5730440" y="0"/>
                </a:lnTo>
                <a:lnTo>
                  <a:pt x="5730440" y="4487892"/>
                </a:lnTo>
                <a:lnTo>
                  <a:pt x="0" y="44878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424" t="-6235" r="-22486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144000" y="2033467"/>
            <a:ext cx="6264639" cy="3523860"/>
          </a:xfrm>
          <a:custGeom>
            <a:avLst/>
            <a:gdLst/>
            <a:ahLst/>
            <a:cxnLst/>
            <a:rect r="r" b="b" t="t" l="l"/>
            <a:pathLst>
              <a:path h="3523860" w="6264639">
                <a:moveTo>
                  <a:pt x="0" y="0"/>
                </a:moveTo>
                <a:lnTo>
                  <a:pt x="6264639" y="0"/>
                </a:lnTo>
                <a:lnTo>
                  <a:pt x="6264639" y="3523860"/>
                </a:lnTo>
                <a:lnTo>
                  <a:pt x="0" y="35238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021200" y="6381946"/>
            <a:ext cx="12245600" cy="361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1837" indent="-260919" lvl="1">
              <a:lnSpc>
                <a:spcPts val="2900"/>
              </a:lnSpc>
              <a:spcBef>
                <a:spcPct val="0"/>
              </a:spcBef>
              <a:buFont typeface="Arial"/>
              <a:buChar char="•"/>
            </a:pPr>
            <a:r>
              <a:rPr lang="en-US" sz="241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Commercial gesture gloves (e.g., Meta Quest, HaptX) are expensive and proprietary.</a:t>
            </a:r>
          </a:p>
          <a:p>
            <a:pPr algn="l" marL="521837" indent="-260919" lvl="1">
              <a:lnSpc>
                <a:spcPts val="2900"/>
              </a:lnSpc>
              <a:spcBef>
                <a:spcPct val="0"/>
              </a:spcBef>
              <a:buFont typeface="Arial"/>
              <a:buChar char="•"/>
            </a:pPr>
            <a:r>
              <a:rPr lang="en-US" sz="241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Limited flexibility for educational or low-cost research purposes.</a:t>
            </a:r>
          </a:p>
          <a:p>
            <a:pPr algn="l" marL="521837" indent="-260919" lvl="1">
              <a:lnSpc>
                <a:spcPts val="2900"/>
              </a:lnSpc>
              <a:spcBef>
                <a:spcPct val="0"/>
              </a:spcBef>
              <a:buFont typeface="Arial"/>
              <a:buChar char="•"/>
            </a:pPr>
            <a:r>
              <a:rPr lang="en-US" sz="241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Often lack real-time feedback or wireless control in open-source systems.</a:t>
            </a:r>
          </a:p>
          <a:p>
            <a:pPr algn="l" marL="521837" indent="-260919" lvl="1">
              <a:lnSpc>
                <a:spcPts val="2900"/>
              </a:lnSpc>
              <a:spcBef>
                <a:spcPct val="0"/>
              </a:spcBef>
              <a:buFont typeface="Arial"/>
              <a:buChar char="•"/>
            </a:pPr>
            <a:r>
              <a:rPr lang="en-US" sz="241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Because this technology is still relatively new and evolving, many features are not yet fully learned or optimized, requiring further development for better accessibility and usability.</a:t>
            </a:r>
          </a:p>
          <a:p>
            <a:pPr algn="l" marL="521837" indent="-260919" lvl="1">
              <a:lnSpc>
                <a:spcPts val="2900"/>
              </a:lnSpc>
              <a:spcBef>
                <a:spcPct val="0"/>
              </a:spcBef>
              <a:buFont typeface="Arial"/>
              <a:buChar char="•"/>
            </a:pPr>
            <a:r>
              <a:rPr lang="en-US" sz="241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Therefore, there is a need for an affordable Arduino-based prototype that provides basic hand-gesture recognition and wireless output while remaining open for improvement and experimentation.</a:t>
            </a:r>
          </a:p>
          <a:p>
            <a:pPr algn="l">
              <a:lnSpc>
                <a:spcPts val="29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87952"/>
            <a:ext cx="13716000" cy="99048"/>
            <a:chOff x="0" y="0"/>
            <a:chExt cx="13004800" cy="93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3853"/>
            </a:xfrm>
            <a:custGeom>
              <a:avLst/>
              <a:gdLst/>
              <a:ahLst/>
              <a:cxnLst/>
              <a:rect r="r" b="b" t="t" l="l"/>
              <a:pathLst>
                <a:path h="93853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3853"/>
                  </a:lnTo>
                  <a:lnTo>
                    <a:pt x="0" y="93853"/>
                  </a:lnTo>
                  <a:close/>
                </a:path>
              </a:pathLst>
            </a:custGeom>
            <a:solidFill>
              <a:srgbClr val="20A15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339244" y="9645180"/>
            <a:ext cx="1987684" cy="501696"/>
            <a:chOff x="0" y="0"/>
            <a:chExt cx="1884619" cy="475682"/>
          </a:xfrm>
        </p:grpSpPr>
        <p:sp>
          <p:nvSpPr>
            <p:cNvPr name="Freeform 5" id="5" descr="C:\Users\Donggeon Lee\Desktop\IoT\pnu.png"/>
            <p:cNvSpPr/>
            <p:nvPr/>
          </p:nvSpPr>
          <p:spPr>
            <a:xfrm flipH="false" flipV="false" rot="0">
              <a:off x="0" y="0"/>
              <a:ext cx="1884680" cy="475742"/>
            </a:xfrm>
            <a:custGeom>
              <a:avLst/>
              <a:gdLst/>
              <a:ahLst/>
              <a:cxnLst/>
              <a:rect r="r" b="b" t="t" l="l"/>
              <a:pathLst>
                <a:path h="475742" w="1884680">
                  <a:moveTo>
                    <a:pt x="0" y="0"/>
                  </a:moveTo>
                  <a:lnTo>
                    <a:pt x="1884680" y="0"/>
                  </a:lnTo>
                  <a:lnTo>
                    <a:pt x="1884680" y="475742"/>
                  </a:lnTo>
                  <a:lnTo>
                    <a:pt x="0" y="475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472" b="1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0" y="0"/>
            <a:ext cx="13716000" cy="68578"/>
            <a:chOff x="0" y="0"/>
            <a:chExt cx="13004800" cy="650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04800" cy="65024"/>
            </a:xfrm>
            <a:custGeom>
              <a:avLst/>
              <a:gdLst/>
              <a:ahLst/>
              <a:cxnLst/>
              <a:rect r="r" b="b" t="t" l="l"/>
              <a:pathLst>
                <a:path h="65024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65024"/>
                  </a:lnTo>
                  <a:lnTo>
                    <a:pt x="0" y="65024"/>
                  </a:lnTo>
                  <a:close/>
                </a:path>
              </a:pathLst>
            </a:custGeom>
            <a:solidFill>
              <a:srgbClr val="004EA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555268" y="270162"/>
            <a:ext cx="13180032" cy="921327"/>
            <a:chOff x="0" y="0"/>
            <a:chExt cx="12496623" cy="8735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96623" cy="873555"/>
            </a:xfrm>
            <a:custGeom>
              <a:avLst/>
              <a:gdLst/>
              <a:ahLst/>
              <a:cxnLst/>
              <a:rect r="r" b="b" t="t" l="l"/>
              <a:pathLst>
                <a:path h="873555" w="12496623">
                  <a:moveTo>
                    <a:pt x="0" y="0"/>
                  </a:moveTo>
                  <a:lnTo>
                    <a:pt x="12496623" y="0"/>
                  </a:lnTo>
                  <a:lnTo>
                    <a:pt x="12496623" y="873555"/>
                  </a:lnTo>
                  <a:lnTo>
                    <a:pt x="0" y="8735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2496623" cy="873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b="true" sz="4199" spc="9">
                  <a:solidFill>
                    <a:srgbClr val="20A15E"/>
                  </a:solidFill>
                  <a:latin typeface="Rosario Bold"/>
                  <a:ea typeface="Rosario Bold"/>
                  <a:cs typeface="Rosario Bold"/>
                  <a:sym typeface="Rosario Bold"/>
                </a:rPr>
                <a:t>Goals and features of the proposed system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516708" y="9896028"/>
            <a:ext cx="485292" cy="291924"/>
            <a:chOff x="0" y="0"/>
            <a:chExt cx="460129" cy="2767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21" cy="276733"/>
            </a:xfrm>
            <a:custGeom>
              <a:avLst/>
              <a:gdLst/>
              <a:ahLst/>
              <a:cxnLst/>
              <a:rect r="r" b="b" t="t" l="l"/>
              <a:pathLst>
                <a:path h="276733" w="460121">
                  <a:moveTo>
                    <a:pt x="0" y="0"/>
                  </a:moveTo>
                  <a:lnTo>
                    <a:pt x="460121" y="0"/>
                  </a:lnTo>
                  <a:lnTo>
                    <a:pt x="460121" y="276733"/>
                  </a:lnTo>
                  <a:lnTo>
                    <a:pt x="0" y="276733"/>
                  </a:lnTo>
                  <a:close/>
                </a:path>
              </a:pathLst>
            </a:custGeom>
            <a:solidFill>
              <a:srgbClr val="20A15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460129" cy="2958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‹#›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563988" y="2407396"/>
            <a:ext cx="11160024" cy="4144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Goal: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Design and implement an Arduino-based smart glove that recognizes finger and hand movements to control devices or simulate virtual interactions.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</a:p>
          <a:p>
            <a:pPr algn="l">
              <a:lnSpc>
                <a:spcPts val="3000"/>
              </a:lnSpc>
              <a:spcBef>
                <a:spcPct val="0"/>
              </a:spcBef>
            </a:pP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Features:</a:t>
            </a:r>
          </a:p>
          <a:p>
            <a:pPr algn="l" marL="539782" indent="-269891" lvl="1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Detect finger bending using flex sensors.</a:t>
            </a:r>
          </a:p>
          <a:p>
            <a:pPr algn="l" marL="539782" indent="-269891" lvl="1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Capture hand orientation using accelerometer &amp; gyroscope (MPU-6050).</a:t>
            </a:r>
          </a:p>
          <a:p>
            <a:pPr algn="l" marL="539782" indent="-269891" lvl="1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Transmit gesture data wirelessly using Bluetooth (HC-05).</a:t>
            </a:r>
          </a:p>
          <a:p>
            <a:pPr algn="l" marL="539782" indent="-269891" lvl="1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Control a robotic arm or VR cursor in real time.</a:t>
            </a:r>
          </a:p>
          <a:p>
            <a:pPr algn="l" marL="539782" indent="-269891" lvl="1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Display current mode/status via LED indicators.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87952"/>
            <a:ext cx="13716000" cy="99048"/>
            <a:chOff x="0" y="0"/>
            <a:chExt cx="13004800" cy="93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3853"/>
            </a:xfrm>
            <a:custGeom>
              <a:avLst/>
              <a:gdLst/>
              <a:ahLst/>
              <a:cxnLst/>
              <a:rect r="r" b="b" t="t" l="l"/>
              <a:pathLst>
                <a:path h="93853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3853"/>
                  </a:lnTo>
                  <a:lnTo>
                    <a:pt x="0" y="93853"/>
                  </a:lnTo>
                  <a:close/>
                </a:path>
              </a:pathLst>
            </a:custGeom>
            <a:solidFill>
              <a:srgbClr val="20A15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339244" y="9645180"/>
            <a:ext cx="1987684" cy="501696"/>
            <a:chOff x="0" y="0"/>
            <a:chExt cx="1884619" cy="475682"/>
          </a:xfrm>
        </p:grpSpPr>
        <p:sp>
          <p:nvSpPr>
            <p:cNvPr name="Freeform 5" id="5" descr="C:\Users\Donggeon Lee\Desktop\IoT\pnu.png"/>
            <p:cNvSpPr/>
            <p:nvPr/>
          </p:nvSpPr>
          <p:spPr>
            <a:xfrm flipH="false" flipV="false" rot="0">
              <a:off x="0" y="0"/>
              <a:ext cx="1884680" cy="475742"/>
            </a:xfrm>
            <a:custGeom>
              <a:avLst/>
              <a:gdLst/>
              <a:ahLst/>
              <a:cxnLst/>
              <a:rect r="r" b="b" t="t" l="l"/>
              <a:pathLst>
                <a:path h="475742" w="1884680">
                  <a:moveTo>
                    <a:pt x="0" y="0"/>
                  </a:moveTo>
                  <a:lnTo>
                    <a:pt x="1884680" y="0"/>
                  </a:lnTo>
                  <a:lnTo>
                    <a:pt x="1884680" y="475742"/>
                  </a:lnTo>
                  <a:lnTo>
                    <a:pt x="0" y="475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472" b="1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0" y="0"/>
            <a:ext cx="13716000" cy="68578"/>
            <a:chOff x="0" y="0"/>
            <a:chExt cx="13004800" cy="650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04800" cy="65024"/>
            </a:xfrm>
            <a:custGeom>
              <a:avLst/>
              <a:gdLst/>
              <a:ahLst/>
              <a:cxnLst/>
              <a:rect r="r" b="b" t="t" l="l"/>
              <a:pathLst>
                <a:path h="65024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65024"/>
                  </a:lnTo>
                  <a:lnTo>
                    <a:pt x="0" y="65024"/>
                  </a:lnTo>
                  <a:close/>
                </a:path>
              </a:pathLst>
            </a:custGeom>
            <a:solidFill>
              <a:srgbClr val="004EA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555268" y="270162"/>
            <a:ext cx="13180032" cy="921327"/>
            <a:chOff x="0" y="0"/>
            <a:chExt cx="12496623" cy="8735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96623" cy="873555"/>
            </a:xfrm>
            <a:custGeom>
              <a:avLst/>
              <a:gdLst/>
              <a:ahLst/>
              <a:cxnLst/>
              <a:rect r="r" b="b" t="t" l="l"/>
              <a:pathLst>
                <a:path h="873555" w="12496623">
                  <a:moveTo>
                    <a:pt x="0" y="0"/>
                  </a:moveTo>
                  <a:lnTo>
                    <a:pt x="12496623" y="0"/>
                  </a:lnTo>
                  <a:lnTo>
                    <a:pt x="12496623" y="873555"/>
                  </a:lnTo>
                  <a:lnTo>
                    <a:pt x="0" y="8735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2496623" cy="873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b="true" sz="4199" spc="9">
                  <a:solidFill>
                    <a:srgbClr val="20A15E"/>
                  </a:solidFill>
                  <a:latin typeface="Rosario Bold"/>
                  <a:ea typeface="Rosario Bold"/>
                  <a:cs typeface="Rosario Bold"/>
                  <a:sym typeface="Rosario Bold"/>
                </a:rPr>
                <a:t>System description and methodology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516708" y="9896028"/>
            <a:ext cx="485292" cy="291924"/>
            <a:chOff x="0" y="0"/>
            <a:chExt cx="460129" cy="2767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21" cy="276733"/>
            </a:xfrm>
            <a:custGeom>
              <a:avLst/>
              <a:gdLst/>
              <a:ahLst/>
              <a:cxnLst/>
              <a:rect r="r" b="b" t="t" l="l"/>
              <a:pathLst>
                <a:path h="276733" w="460121">
                  <a:moveTo>
                    <a:pt x="0" y="0"/>
                  </a:moveTo>
                  <a:lnTo>
                    <a:pt x="460121" y="0"/>
                  </a:lnTo>
                  <a:lnTo>
                    <a:pt x="460121" y="276733"/>
                  </a:lnTo>
                  <a:lnTo>
                    <a:pt x="0" y="276733"/>
                  </a:lnTo>
                  <a:close/>
                </a:path>
              </a:pathLst>
            </a:custGeom>
            <a:solidFill>
              <a:srgbClr val="20A15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460129" cy="2958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‹#›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314700" y="1380925"/>
            <a:ext cx="11658600" cy="805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System Overview:</a:t>
            </a:r>
          </a:p>
          <a:p>
            <a:pPr algn="l">
              <a:lnSpc>
                <a:spcPts val="2626"/>
              </a:lnSpc>
            </a:pPr>
            <a:r>
              <a:rPr lang="en-US" sz="218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Input Sensors → Arduino Mega 2560 → Wireless Transmission → Receiver System / PC Interface</a:t>
            </a:r>
          </a:p>
          <a:p>
            <a:pPr algn="l">
              <a:lnSpc>
                <a:spcPts val="2626"/>
              </a:lnSpc>
            </a:pPr>
          </a:p>
          <a:p>
            <a:pPr algn="l">
              <a:lnSpc>
                <a:spcPts val="2626"/>
              </a:lnSpc>
            </a:pPr>
            <a:r>
              <a:rPr lang="en-US" sz="2188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Block Diagram:</a:t>
            </a:r>
          </a:p>
          <a:p>
            <a:pPr algn="l">
              <a:lnSpc>
                <a:spcPts val="2626"/>
              </a:lnSpc>
            </a:pPr>
            <a:r>
              <a:rPr lang="en-US" sz="218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Flex Sensors + MPU-6050 → Arduino → HC-05 Bluetooth → VR Controller</a:t>
            </a:r>
          </a:p>
          <a:p>
            <a:pPr algn="l">
              <a:lnSpc>
                <a:spcPts val="2626"/>
              </a:lnSpc>
            </a:pPr>
          </a:p>
          <a:p>
            <a:pPr algn="l">
              <a:lnSpc>
                <a:spcPts val="2626"/>
              </a:lnSpc>
            </a:pPr>
            <a:r>
              <a:rPr lang="en-US" sz="2188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Operation Scenario:</a:t>
            </a:r>
          </a:p>
          <a:p>
            <a:pPr algn="l" marL="472533" indent="-236267" lvl="1">
              <a:lnSpc>
                <a:spcPts val="2626"/>
              </a:lnSpc>
              <a:buAutoNum type="arabicPeriod" startAt="1"/>
            </a:pPr>
            <a:r>
              <a:rPr lang="en-US" sz="218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User wears glove and performs gestures.</a:t>
            </a:r>
          </a:p>
          <a:p>
            <a:pPr algn="l" marL="472533" indent="-236267" lvl="1">
              <a:lnSpc>
                <a:spcPts val="2626"/>
              </a:lnSpc>
              <a:buAutoNum type="arabicPeriod" startAt="1"/>
            </a:pPr>
            <a:r>
              <a:rPr lang="en-US" sz="218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Arduino reads flex and motion sensor values.</a:t>
            </a:r>
          </a:p>
          <a:p>
            <a:pPr algn="l" marL="472533" indent="-236267" lvl="1">
              <a:lnSpc>
                <a:spcPts val="2626"/>
              </a:lnSpc>
              <a:buAutoNum type="arabicPeriod" startAt="1"/>
            </a:pPr>
            <a:r>
              <a:rPr lang="en-US" sz="218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Data transmitted wirelessly to receiver.</a:t>
            </a:r>
          </a:p>
          <a:p>
            <a:pPr algn="l" marL="472533" indent="-236267" lvl="1">
              <a:lnSpc>
                <a:spcPts val="2626"/>
              </a:lnSpc>
              <a:spcBef>
                <a:spcPct val="0"/>
              </a:spcBef>
              <a:buAutoNum type="arabicPeriod" startAt="1"/>
            </a:pPr>
            <a:r>
              <a:rPr lang="en-US" sz="218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Receiver interprets gestures to control</a:t>
            </a:r>
            <a:r>
              <a:rPr lang="en-US" sz="218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robotic servos or VR environment.</a:t>
            </a:r>
          </a:p>
          <a:p>
            <a:pPr algn="l">
              <a:lnSpc>
                <a:spcPts val="2626"/>
              </a:lnSpc>
              <a:spcBef>
                <a:spcPct val="0"/>
              </a:spcBef>
            </a:pPr>
          </a:p>
          <a:p>
            <a:pPr algn="l">
              <a:lnSpc>
                <a:spcPts val="2626"/>
              </a:lnSpc>
            </a:pPr>
            <a:r>
              <a:rPr lang="en-US" b="true" sz="218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Software Implementation:</a:t>
            </a:r>
          </a:p>
          <a:p>
            <a:pPr algn="l">
              <a:lnSpc>
                <a:spcPts val="2626"/>
              </a:lnSpc>
            </a:pPr>
            <a:r>
              <a:rPr lang="en-US" sz="218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Analog readings for flex sensors (A0–A4).</a:t>
            </a:r>
          </a:p>
          <a:p>
            <a:pPr algn="l">
              <a:lnSpc>
                <a:spcPts val="2626"/>
              </a:lnSpc>
            </a:pPr>
            <a:r>
              <a:rPr lang="en-US" sz="218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I²C communication for MPU-6050 (SDA, SCL).</a:t>
            </a:r>
          </a:p>
          <a:p>
            <a:pPr algn="l">
              <a:lnSpc>
                <a:spcPts val="2626"/>
              </a:lnSpc>
            </a:pPr>
            <a:r>
              <a:rPr lang="en-US" sz="218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Serial communication for Bluetooth module.</a:t>
            </a:r>
          </a:p>
          <a:p>
            <a:pPr algn="l">
              <a:lnSpc>
                <a:spcPts val="2626"/>
              </a:lnSpc>
            </a:pPr>
            <a:r>
              <a:rPr lang="en-US" sz="218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Gesture mapping via threshold logic.</a:t>
            </a:r>
          </a:p>
          <a:p>
            <a:pPr algn="l">
              <a:lnSpc>
                <a:spcPts val="2626"/>
              </a:lnSpc>
            </a:pPr>
          </a:p>
          <a:p>
            <a:pPr algn="l">
              <a:lnSpc>
                <a:spcPts val="2626"/>
              </a:lnSpc>
            </a:pPr>
            <a:r>
              <a:rPr lang="en-US" b="true" sz="218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Example Gestures:</a:t>
            </a:r>
          </a:p>
          <a:p>
            <a:pPr algn="l">
              <a:lnSpc>
                <a:spcPts val="2626"/>
              </a:lnSpc>
            </a:pPr>
            <a:r>
              <a:rPr lang="en-US" sz="218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Fist → “Stop”</a:t>
            </a:r>
          </a:p>
          <a:p>
            <a:pPr algn="l">
              <a:lnSpc>
                <a:spcPts val="2626"/>
              </a:lnSpc>
            </a:pPr>
            <a:r>
              <a:rPr lang="en-US" sz="218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Open palm → “Start”</a:t>
            </a:r>
          </a:p>
          <a:p>
            <a:pPr algn="l">
              <a:lnSpc>
                <a:spcPts val="2626"/>
              </a:lnSpc>
            </a:pPr>
            <a:r>
              <a:rPr lang="en-US" sz="218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Index forward → “Move”</a:t>
            </a:r>
          </a:p>
          <a:p>
            <a:pPr algn="l">
              <a:lnSpc>
                <a:spcPts val="2626"/>
              </a:lnSpc>
            </a:pPr>
            <a:r>
              <a:rPr lang="en-US" sz="218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Tilt right/left → “Turn”</a:t>
            </a:r>
          </a:p>
          <a:p>
            <a:pPr algn="l">
              <a:lnSpc>
                <a:spcPts val="262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87952"/>
            <a:ext cx="13716000" cy="99048"/>
            <a:chOff x="0" y="0"/>
            <a:chExt cx="13004800" cy="93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3853"/>
            </a:xfrm>
            <a:custGeom>
              <a:avLst/>
              <a:gdLst/>
              <a:ahLst/>
              <a:cxnLst/>
              <a:rect r="r" b="b" t="t" l="l"/>
              <a:pathLst>
                <a:path h="93853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3853"/>
                  </a:lnTo>
                  <a:lnTo>
                    <a:pt x="0" y="93853"/>
                  </a:lnTo>
                  <a:close/>
                </a:path>
              </a:pathLst>
            </a:custGeom>
            <a:solidFill>
              <a:srgbClr val="20A15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339244" y="9645180"/>
            <a:ext cx="1987684" cy="501696"/>
            <a:chOff x="0" y="0"/>
            <a:chExt cx="1884619" cy="475682"/>
          </a:xfrm>
        </p:grpSpPr>
        <p:sp>
          <p:nvSpPr>
            <p:cNvPr name="Freeform 5" id="5" descr="C:\Users\Donggeon Lee\Desktop\IoT\pnu.png"/>
            <p:cNvSpPr/>
            <p:nvPr/>
          </p:nvSpPr>
          <p:spPr>
            <a:xfrm flipH="false" flipV="false" rot="0">
              <a:off x="0" y="0"/>
              <a:ext cx="1884680" cy="475742"/>
            </a:xfrm>
            <a:custGeom>
              <a:avLst/>
              <a:gdLst/>
              <a:ahLst/>
              <a:cxnLst/>
              <a:rect r="r" b="b" t="t" l="l"/>
              <a:pathLst>
                <a:path h="475742" w="1884680">
                  <a:moveTo>
                    <a:pt x="0" y="0"/>
                  </a:moveTo>
                  <a:lnTo>
                    <a:pt x="1884680" y="0"/>
                  </a:lnTo>
                  <a:lnTo>
                    <a:pt x="1884680" y="475742"/>
                  </a:lnTo>
                  <a:lnTo>
                    <a:pt x="0" y="475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472" b="1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0" y="0"/>
            <a:ext cx="13716000" cy="68578"/>
            <a:chOff x="0" y="0"/>
            <a:chExt cx="13004800" cy="650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04800" cy="65024"/>
            </a:xfrm>
            <a:custGeom>
              <a:avLst/>
              <a:gdLst/>
              <a:ahLst/>
              <a:cxnLst/>
              <a:rect r="r" b="b" t="t" l="l"/>
              <a:pathLst>
                <a:path h="65024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65024"/>
                  </a:lnTo>
                  <a:lnTo>
                    <a:pt x="0" y="65024"/>
                  </a:lnTo>
                  <a:close/>
                </a:path>
              </a:pathLst>
            </a:custGeom>
            <a:solidFill>
              <a:srgbClr val="004EA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555268" y="270162"/>
            <a:ext cx="13180032" cy="921327"/>
            <a:chOff x="0" y="0"/>
            <a:chExt cx="12496623" cy="8735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96623" cy="873555"/>
            </a:xfrm>
            <a:custGeom>
              <a:avLst/>
              <a:gdLst/>
              <a:ahLst/>
              <a:cxnLst/>
              <a:rect r="r" b="b" t="t" l="l"/>
              <a:pathLst>
                <a:path h="873555" w="12496623">
                  <a:moveTo>
                    <a:pt x="0" y="0"/>
                  </a:moveTo>
                  <a:lnTo>
                    <a:pt x="12496623" y="0"/>
                  </a:lnTo>
                  <a:lnTo>
                    <a:pt x="12496623" y="873555"/>
                  </a:lnTo>
                  <a:lnTo>
                    <a:pt x="0" y="8735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2496623" cy="873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b="true" sz="4199" spc="9">
                  <a:solidFill>
                    <a:srgbClr val="20A15E"/>
                  </a:solidFill>
                  <a:latin typeface="Rosario Bold"/>
                  <a:ea typeface="Rosario Bold"/>
                  <a:cs typeface="Rosario Bold"/>
                  <a:sym typeface="Rosario Bold"/>
                </a:rPr>
                <a:t>Application plans and future development directions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516708" y="9896028"/>
            <a:ext cx="485292" cy="291924"/>
            <a:chOff x="0" y="0"/>
            <a:chExt cx="460129" cy="2767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21" cy="276733"/>
            </a:xfrm>
            <a:custGeom>
              <a:avLst/>
              <a:gdLst/>
              <a:ahLst/>
              <a:cxnLst/>
              <a:rect r="r" b="b" t="t" l="l"/>
              <a:pathLst>
                <a:path h="276733" w="460121">
                  <a:moveTo>
                    <a:pt x="0" y="0"/>
                  </a:moveTo>
                  <a:lnTo>
                    <a:pt x="460121" y="0"/>
                  </a:lnTo>
                  <a:lnTo>
                    <a:pt x="460121" y="276733"/>
                  </a:lnTo>
                  <a:lnTo>
                    <a:pt x="0" y="276733"/>
                  </a:lnTo>
                  <a:close/>
                </a:path>
              </a:pathLst>
            </a:custGeom>
            <a:solidFill>
              <a:srgbClr val="20A15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460129" cy="2958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‹#›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574017" y="2088496"/>
            <a:ext cx="5157082" cy="6356958"/>
          </a:xfrm>
          <a:custGeom>
            <a:avLst/>
            <a:gdLst/>
            <a:ahLst/>
            <a:cxnLst/>
            <a:rect r="r" b="b" t="t" l="l"/>
            <a:pathLst>
              <a:path h="6356958" w="5157082">
                <a:moveTo>
                  <a:pt x="0" y="0"/>
                </a:moveTo>
                <a:lnTo>
                  <a:pt x="5157083" y="0"/>
                </a:lnTo>
                <a:lnTo>
                  <a:pt x="515708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145284" y="2635992"/>
            <a:ext cx="5323126" cy="5242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82930" indent="-291465" lvl="1">
              <a:lnSpc>
                <a:spcPts val="3240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VR Integration: Use glove as an open-source VR controller.</a:t>
            </a:r>
          </a:p>
          <a:p>
            <a:pPr algn="ctr" marL="582930" indent="-291465" lvl="1">
              <a:lnSpc>
                <a:spcPts val="3240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Robotics: Control robotic arms for industrial training or prosthetic design.</a:t>
            </a:r>
          </a:p>
          <a:p>
            <a:pPr algn="ctr" marL="582930" indent="-291465" lvl="1">
              <a:lnSpc>
                <a:spcPts val="3240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Gaming and Simulation: Replace physical joysticks in 3D environments.</a:t>
            </a:r>
          </a:p>
          <a:p>
            <a:pPr algn="ctr" marL="582930" indent="-291465" lvl="1">
              <a:lnSpc>
                <a:spcPts val="3240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Future improvements: add haptic feedback, Wi-Fi control, and machine-learning gesture recognition.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87952"/>
            <a:ext cx="13716000" cy="99048"/>
            <a:chOff x="0" y="0"/>
            <a:chExt cx="13004800" cy="93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3853"/>
            </a:xfrm>
            <a:custGeom>
              <a:avLst/>
              <a:gdLst/>
              <a:ahLst/>
              <a:cxnLst/>
              <a:rect r="r" b="b" t="t" l="l"/>
              <a:pathLst>
                <a:path h="93853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3853"/>
                  </a:lnTo>
                  <a:lnTo>
                    <a:pt x="0" y="93853"/>
                  </a:lnTo>
                  <a:close/>
                </a:path>
              </a:pathLst>
            </a:custGeom>
            <a:solidFill>
              <a:srgbClr val="20A15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339244" y="9645180"/>
            <a:ext cx="1987684" cy="501696"/>
            <a:chOff x="0" y="0"/>
            <a:chExt cx="1884619" cy="475682"/>
          </a:xfrm>
        </p:grpSpPr>
        <p:sp>
          <p:nvSpPr>
            <p:cNvPr name="Freeform 5" id="5" descr="C:\Users\Donggeon Lee\Desktop\IoT\pnu.png"/>
            <p:cNvSpPr/>
            <p:nvPr/>
          </p:nvSpPr>
          <p:spPr>
            <a:xfrm flipH="false" flipV="false" rot="0">
              <a:off x="0" y="0"/>
              <a:ext cx="1884680" cy="475742"/>
            </a:xfrm>
            <a:custGeom>
              <a:avLst/>
              <a:gdLst/>
              <a:ahLst/>
              <a:cxnLst/>
              <a:rect r="r" b="b" t="t" l="l"/>
              <a:pathLst>
                <a:path h="475742" w="1884680">
                  <a:moveTo>
                    <a:pt x="0" y="0"/>
                  </a:moveTo>
                  <a:lnTo>
                    <a:pt x="1884680" y="0"/>
                  </a:lnTo>
                  <a:lnTo>
                    <a:pt x="1884680" y="475742"/>
                  </a:lnTo>
                  <a:lnTo>
                    <a:pt x="0" y="475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472" b="1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0" y="0"/>
            <a:ext cx="13716000" cy="68578"/>
            <a:chOff x="0" y="0"/>
            <a:chExt cx="13004800" cy="650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04800" cy="65024"/>
            </a:xfrm>
            <a:custGeom>
              <a:avLst/>
              <a:gdLst/>
              <a:ahLst/>
              <a:cxnLst/>
              <a:rect r="r" b="b" t="t" l="l"/>
              <a:pathLst>
                <a:path h="65024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65024"/>
                  </a:lnTo>
                  <a:lnTo>
                    <a:pt x="0" y="65024"/>
                  </a:lnTo>
                  <a:close/>
                </a:path>
              </a:pathLst>
            </a:custGeom>
            <a:solidFill>
              <a:srgbClr val="004EA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555268" y="270162"/>
            <a:ext cx="13180032" cy="921327"/>
            <a:chOff x="0" y="0"/>
            <a:chExt cx="12496623" cy="8735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96623" cy="873555"/>
            </a:xfrm>
            <a:custGeom>
              <a:avLst/>
              <a:gdLst/>
              <a:ahLst/>
              <a:cxnLst/>
              <a:rect r="r" b="b" t="t" l="l"/>
              <a:pathLst>
                <a:path h="873555" w="12496623">
                  <a:moveTo>
                    <a:pt x="0" y="0"/>
                  </a:moveTo>
                  <a:lnTo>
                    <a:pt x="12496623" y="0"/>
                  </a:lnTo>
                  <a:lnTo>
                    <a:pt x="12496623" y="873555"/>
                  </a:lnTo>
                  <a:lnTo>
                    <a:pt x="0" y="8735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2496623" cy="873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b="true" sz="4199" spc="9">
                  <a:solidFill>
                    <a:srgbClr val="20A15E"/>
                  </a:solidFill>
                  <a:latin typeface="Rosario Bold"/>
                  <a:ea typeface="Rosario Bold"/>
                  <a:cs typeface="Rosario Bold"/>
                  <a:sym typeface="Rosario Bold"/>
                </a:rPr>
                <a:t>List of required equipment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516708" y="9896028"/>
            <a:ext cx="485292" cy="291924"/>
            <a:chOff x="0" y="0"/>
            <a:chExt cx="460129" cy="2767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21" cy="276733"/>
            </a:xfrm>
            <a:custGeom>
              <a:avLst/>
              <a:gdLst/>
              <a:ahLst/>
              <a:cxnLst/>
              <a:rect r="r" b="b" t="t" l="l"/>
              <a:pathLst>
                <a:path h="276733" w="460121">
                  <a:moveTo>
                    <a:pt x="0" y="0"/>
                  </a:moveTo>
                  <a:lnTo>
                    <a:pt x="460121" y="0"/>
                  </a:lnTo>
                  <a:lnTo>
                    <a:pt x="460121" y="276733"/>
                  </a:lnTo>
                  <a:lnTo>
                    <a:pt x="0" y="276733"/>
                  </a:lnTo>
                  <a:close/>
                </a:path>
              </a:pathLst>
            </a:custGeom>
            <a:solidFill>
              <a:srgbClr val="20A15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460129" cy="2958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‹#›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314700" y="1238845"/>
            <a:ext cx="10827589" cy="801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  <a:spcBef>
                <a:spcPct val="0"/>
              </a:spcBef>
            </a:pPr>
            <a:r>
              <a:rPr lang="en-US" b="true" sz="237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Arduino Mega 2560 1EA</a:t>
            </a:r>
          </a:p>
          <a:p>
            <a:pPr algn="l">
              <a:lnSpc>
                <a:spcPts val="2844"/>
              </a:lnSpc>
              <a:spcBef>
                <a:spcPct val="0"/>
              </a:spcBef>
            </a:pPr>
          </a:p>
          <a:p>
            <a:pPr algn="l">
              <a:lnSpc>
                <a:spcPts val="2844"/>
              </a:lnSpc>
              <a:spcBef>
                <a:spcPct val="0"/>
              </a:spcBef>
            </a:pPr>
            <a:r>
              <a:rPr lang="en-US" b="true" sz="237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Flex Sensor 2.2" 5EA </a:t>
            </a:r>
            <a:r>
              <a:rPr lang="en-US" sz="237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(https://www.devicemart.co.kr/goods/view?no=12737236) (32500won)</a:t>
            </a:r>
          </a:p>
          <a:p>
            <a:pPr algn="l">
              <a:lnSpc>
                <a:spcPts val="2844"/>
              </a:lnSpc>
              <a:spcBef>
                <a:spcPct val="0"/>
              </a:spcBef>
            </a:pPr>
          </a:p>
          <a:p>
            <a:pPr algn="l">
              <a:lnSpc>
                <a:spcPts val="2844"/>
              </a:lnSpc>
              <a:spcBef>
                <a:spcPct val="0"/>
              </a:spcBef>
            </a:pPr>
            <a:r>
              <a:rPr lang="en-US" b="true" sz="237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MPU-6050 Gyro + Accelerometer 1EA </a:t>
            </a:r>
          </a:p>
          <a:p>
            <a:pPr algn="l">
              <a:lnSpc>
                <a:spcPts val="2844"/>
              </a:lnSpc>
              <a:spcBef>
                <a:spcPct val="0"/>
              </a:spcBef>
            </a:pPr>
          </a:p>
          <a:p>
            <a:pPr algn="l">
              <a:lnSpc>
                <a:spcPts val="2844"/>
              </a:lnSpc>
              <a:spcBef>
                <a:spcPct val="0"/>
              </a:spcBef>
            </a:pPr>
            <a:r>
              <a:rPr lang="en-US" b="true" sz="237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Bluetooth Module HC-05 1EA </a:t>
            </a:r>
            <a:r>
              <a:rPr lang="en-US" sz="237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<![CDATA[(https://www.coupang.com/vp/products/7897730697?itemId=24320032273&vendorItemId=91072872309&q=bluetooth+serial+port+module+hc-06+szh-ek010&searchId=c045a3ba998350&sourceType=search&itemsCount=36&searchRank=1&rank=1&traceId=mhj4b06q) (3500won)]]></a:t>
            </a:r>
          </a:p>
          <a:p>
            <a:pPr algn="l">
              <a:lnSpc>
                <a:spcPts val="2844"/>
              </a:lnSpc>
              <a:spcBef>
                <a:spcPct val="0"/>
              </a:spcBef>
            </a:pPr>
          </a:p>
          <a:p>
            <a:pPr algn="l">
              <a:lnSpc>
                <a:spcPts val="2844"/>
              </a:lnSpc>
              <a:spcBef>
                <a:spcPct val="0"/>
              </a:spcBef>
            </a:pPr>
            <a:r>
              <a:rPr lang="en-US" b="true" sz="237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LED Indicator 3EA</a:t>
            </a:r>
            <a:r>
              <a:rPr lang="en-US" sz="237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l">
              <a:lnSpc>
                <a:spcPts val="2844"/>
              </a:lnSpc>
              <a:spcBef>
                <a:spcPct val="0"/>
              </a:spcBef>
            </a:pPr>
          </a:p>
          <a:p>
            <a:pPr algn="l">
              <a:lnSpc>
                <a:spcPts val="2844"/>
              </a:lnSpc>
              <a:spcBef>
                <a:spcPct val="0"/>
              </a:spcBef>
            </a:pPr>
            <a:r>
              <a:rPr lang="en-US" b="true" sz="237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Resistors, Jumper Wires, Breadboard </a:t>
            </a:r>
          </a:p>
          <a:p>
            <a:pPr algn="l">
              <a:lnSpc>
                <a:spcPts val="2844"/>
              </a:lnSpc>
              <a:spcBef>
                <a:spcPct val="0"/>
              </a:spcBef>
            </a:pPr>
          </a:p>
          <a:p>
            <a:pPr algn="l">
              <a:lnSpc>
                <a:spcPts val="2844"/>
              </a:lnSpc>
              <a:spcBef>
                <a:spcPct val="0"/>
              </a:spcBef>
            </a:pPr>
            <a:r>
              <a:rPr lang="en-US" b="true" sz="237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Servo Motor (for robotic control demo) 1EA </a:t>
            </a:r>
          </a:p>
          <a:p>
            <a:pPr algn="l">
              <a:lnSpc>
                <a:spcPts val="2844"/>
              </a:lnSpc>
              <a:spcBef>
                <a:spcPct val="0"/>
              </a:spcBef>
            </a:pPr>
          </a:p>
          <a:p>
            <a:pPr algn="l">
              <a:lnSpc>
                <a:spcPts val="2844"/>
              </a:lnSpc>
              <a:spcBef>
                <a:spcPct val="0"/>
              </a:spcBef>
            </a:pPr>
            <a:r>
              <a:rPr lang="en-US" b="true" sz="237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Glove (cotton or sports type) 1EA </a:t>
            </a:r>
          </a:p>
          <a:p>
            <a:pPr algn="l">
              <a:lnSpc>
                <a:spcPts val="2844"/>
              </a:lnSpc>
              <a:spcBef>
                <a:spcPct val="0"/>
              </a:spcBef>
            </a:pPr>
          </a:p>
          <a:p>
            <a:pPr algn="l">
              <a:lnSpc>
                <a:spcPts val="2844"/>
              </a:lnSpc>
              <a:spcBef>
                <a:spcPct val="0"/>
              </a:spcBef>
            </a:pPr>
            <a:r>
              <a:rPr lang="en-US" sz="237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Budget: Within ₩100,000 limit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DAG2woBZy64</dc:identifier>
  <dcterms:modified xsi:type="dcterms:W3CDTF">2011-08-01T06:04:30Z</dcterms:modified>
  <cp:revision>1</cp:revision>
  <dc:title>Gesture-Controlled Smart Glove (VR / Robotics Interface)</dc:title>
</cp:coreProperties>
</file>